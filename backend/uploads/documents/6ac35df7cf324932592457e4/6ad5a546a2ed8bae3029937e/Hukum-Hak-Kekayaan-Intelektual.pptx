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Merriweather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7642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343513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Hukum Hak Kekayaan Intelektual</a:t>
            </a:r>
            <a:endParaRPr lang="en-US" sz="4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63191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Anggota Kelompok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1904643"/>
            <a:ext cx="129028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577108"/>
            <a:ext cx="3652242" cy="36522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3798" y="65378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Adam Fadli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3798" y="7071360"/>
            <a:ext cx="629709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2488010028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386" y="2577108"/>
            <a:ext cx="3652361" cy="36523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9386" y="6537960"/>
            <a:ext cx="417683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Muhammad 'Arif Nur Shidiq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469386" y="7071479"/>
            <a:ext cx="6297216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2488010022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474827"/>
            <a:ext cx="6198275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Agenda Pembahasan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739747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3128724"/>
            <a:ext cx="4136350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5" name="Text 3"/>
          <p:cNvSpPr/>
          <p:nvPr/>
        </p:nvSpPr>
        <p:spPr>
          <a:xfrm>
            <a:off x="863798" y="331303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Pendahuluan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3798" y="3846552"/>
            <a:ext cx="413635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Latar belakang, rumusan masalah, tujuan, dan manfaat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6965" y="2739747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6965" y="3128724"/>
            <a:ext cx="4136350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9" name="Text 7"/>
          <p:cNvSpPr/>
          <p:nvPr/>
        </p:nvSpPr>
        <p:spPr>
          <a:xfrm>
            <a:off x="5246965" y="331303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Pengertian HKI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46965" y="3846552"/>
            <a:ext cx="413635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Definisi dan ruang lingkup Hak Kekayaan Intelektual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2739747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3128724"/>
            <a:ext cx="4136350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30132" y="331303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Jenis-Jenis HKI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30132" y="3846552"/>
            <a:ext cx="413635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Hak Cipta, Paten, Merek, Desain Industri, Rahasia Dagang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3798" y="5068014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3798" y="5456992"/>
            <a:ext cx="6327934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3798" y="5641300"/>
            <a:ext cx="3216831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Perlindungan Hukum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63798" y="6174819"/>
            <a:ext cx="6327934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Regulasi HKI di Indonesia dan sanksi pelanggaran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38549" y="5068014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38549" y="5456992"/>
            <a:ext cx="6327934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38549" y="564130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Kesimpulan &amp; Saran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38549" y="6174819"/>
            <a:ext cx="6327934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Penutup dan rekomendasi ke depan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82594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Latar Belakang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2967395"/>
            <a:ext cx="7416403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Perkembangan teknologi informasi mendorong lahirnya berbagai inovasi dan karya intelektual — karya tulis, musik, perangkat lunak, desain, hingga penemuan teknologi. Namun, kemajuan ini juga memicu pelanggaran: karya disalin, didistribusikan, atau digunakan </a:t>
            </a: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tanpa izin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pemiliknya.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5219105"/>
            <a:ext cx="74164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Untuk itu, diperlukan perlindungan hukum melalui </a:t>
            </a: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Hak Kekayaan Intelektual (HKI)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khususnya bagi mahasiswa dan pelaku industri kreatif.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90638"/>
            <a:ext cx="1116984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Rumusan Masalah, Tujuan &amp; Manfaat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678906"/>
            <a:ext cx="41902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Rumusan Masalah &amp; Tujuan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310" y="3354348"/>
            <a:ext cx="370165" cy="370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65923" y="3342084"/>
            <a:ext cx="5348168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Apa yang dimaksud dengan Hak Kekayaan Intelektual?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310" y="4637603"/>
            <a:ext cx="370165" cy="3701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5923" y="4625340"/>
            <a:ext cx="534816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Apa saja jenis-jenis HKI?</a:t>
            </a:r>
            <a:endParaRPr lang="en-US" sz="1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310" y="5883950"/>
            <a:ext cx="370165" cy="3701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65923" y="5871686"/>
            <a:ext cx="5348168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Bagaimana perlindungan hukum HKI di Indonesia?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7446169" y="2432090"/>
            <a:ext cx="6505813" cy="4506873"/>
          </a:xfrm>
          <a:prstGeom prst="roundRect">
            <a:avLst>
              <a:gd name="adj" fmla="val 3943"/>
            </a:avLst>
          </a:prstGeom>
          <a:solidFill>
            <a:srgbClr val="E04F00">
              <a:alpha val="95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7692985" y="267890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Manfaat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7692985" y="3311247"/>
            <a:ext cx="601218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Teoritis:</a:t>
            </a:r>
            <a:r>
              <a:rPr 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Menambah wawasan mengenai hukum Hak Kekayaan Intelektual.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7692985" y="4322921"/>
            <a:ext cx="601218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Praktis:</a:t>
            </a:r>
            <a:r>
              <a:rPr 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Mendorong masyarakat menghargai karya orang lain dan menghindari pelanggaran HKI.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83933"/>
            <a:ext cx="11028640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Pengertian Hak Kekayaan Intelektual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403872"/>
            <a:ext cx="8176022" cy="456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9824" y="2403038"/>
            <a:ext cx="3754279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HKI adalah </a:t>
            </a: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hak eksklusif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yang diberikan negara kepada seseorang atau kelompok atas hasil karya yang berasal dari kemampuan intelektual.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9649658" y="2403038"/>
            <a:ext cx="30480" cy="1974056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6" name="Text 3"/>
          <p:cNvSpPr/>
          <p:nvPr/>
        </p:nvSpPr>
        <p:spPr>
          <a:xfrm>
            <a:off x="9649658" y="4654748"/>
            <a:ext cx="4124444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HKI mencakup bidang seni, sastra, ilmu pengetahuan, teknologi, dan industri. Perlindungan ini penting untuk </a:t>
            </a: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mendorong kreativitas dan inovasi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karena pencipta merasa dihargai atas hasil karyanya.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052" y="902851"/>
            <a:ext cx="10048399" cy="710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Jenis-Jenis Hak Kekayaan Intelektual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6052" y="2032754"/>
            <a:ext cx="4206359" cy="2891790"/>
          </a:xfrm>
          <a:prstGeom prst="roundRect">
            <a:avLst>
              <a:gd name="adj" fmla="val 33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081" y="2267783"/>
            <a:ext cx="682347" cy="682347"/>
          </a:xfrm>
          <a:prstGeom prst="roundRect">
            <a:avLst>
              <a:gd name="adj" fmla="val 13399466"/>
            </a:avLst>
          </a:prstGeom>
          <a:solidFill>
            <a:srgbClr val="609D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724" y="2455426"/>
            <a:ext cx="307062" cy="3070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081" y="3159681"/>
            <a:ext cx="2843093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Hak Cipta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1081" y="3640812"/>
            <a:ext cx="3736300" cy="1048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Karya seni, sastra &amp; ilmu pengetahuan: buku, musik, film, software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1961" y="2032754"/>
            <a:ext cx="4206359" cy="2891790"/>
          </a:xfrm>
          <a:prstGeom prst="roundRect">
            <a:avLst>
              <a:gd name="adj" fmla="val 33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6990" y="2267783"/>
            <a:ext cx="682347" cy="682347"/>
          </a:xfrm>
          <a:prstGeom prst="roundRect">
            <a:avLst>
              <a:gd name="adj" fmla="val 13399466"/>
            </a:avLst>
          </a:prstGeom>
          <a:solidFill>
            <a:srgbClr val="609D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4633" y="2455426"/>
            <a:ext cx="307062" cy="3070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6990" y="3159681"/>
            <a:ext cx="2843093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Paten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6990" y="3640812"/>
            <a:ext cx="3736300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Hak eksklusif atas penemuan di bidang teknologi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27870" y="2032754"/>
            <a:ext cx="4206478" cy="2891790"/>
          </a:xfrm>
          <a:prstGeom prst="roundRect">
            <a:avLst>
              <a:gd name="adj" fmla="val 33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62899" y="2267783"/>
            <a:ext cx="682347" cy="682347"/>
          </a:xfrm>
          <a:prstGeom prst="roundRect">
            <a:avLst>
              <a:gd name="adj" fmla="val 13399466"/>
            </a:avLst>
          </a:prstGeom>
          <a:solidFill>
            <a:srgbClr val="609D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0542" y="2455426"/>
            <a:ext cx="307062" cy="3070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2899" y="3159681"/>
            <a:ext cx="2843093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Merek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2899" y="3640812"/>
            <a:ext cx="3736419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Tanda pembeda produk atau jasa antar perusahaan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6052" y="5134094"/>
            <a:ext cx="6414373" cy="2192655"/>
          </a:xfrm>
          <a:prstGeom prst="roundRect">
            <a:avLst>
              <a:gd name="adj" fmla="val 435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31081" y="5369123"/>
            <a:ext cx="682347" cy="682347"/>
          </a:xfrm>
          <a:prstGeom prst="roundRect">
            <a:avLst>
              <a:gd name="adj" fmla="val 13399466"/>
            </a:avLst>
          </a:prstGeom>
          <a:solidFill>
            <a:srgbClr val="609D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8724" y="5556766"/>
            <a:ext cx="307062" cy="3070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31081" y="6261021"/>
            <a:ext cx="2843093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Desain Industri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31081" y="6742152"/>
            <a:ext cx="5944314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Perlindungan bentuk, tampilan, atau estetika produk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19975" y="5134094"/>
            <a:ext cx="6414373" cy="2192655"/>
          </a:xfrm>
          <a:prstGeom prst="roundRect">
            <a:avLst>
              <a:gd name="adj" fmla="val 435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55004" y="5369123"/>
            <a:ext cx="682347" cy="682347"/>
          </a:xfrm>
          <a:prstGeom prst="roundRect">
            <a:avLst>
              <a:gd name="adj" fmla="val 13399466"/>
            </a:avLst>
          </a:prstGeom>
          <a:solidFill>
            <a:srgbClr val="609D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2647" y="5556766"/>
            <a:ext cx="307062" cy="3070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004" y="6261021"/>
            <a:ext cx="2843093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Rahasia Dagang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004" y="6742152"/>
            <a:ext cx="5944314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Informasi bisnis rahasia yang memiliki nilai ekonomi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74276"/>
            <a:ext cx="11550015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Perlindungan Hukum HKI di Indonesia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262545"/>
            <a:ext cx="329874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Regulasi yang Berlaku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3798" y="2925723"/>
            <a:ext cx="6150293" cy="949404"/>
          </a:xfrm>
          <a:prstGeom prst="roundRect">
            <a:avLst>
              <a:gd name="adj" fmla="val 1541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318" y="2925723"/>
            <a:ext cx="121920" cy="949404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6" name="Text 4"/>
          <p:cNvSpPr/>
          <p:nvPr/>
        </p:nvSpPr>
        <p:spPr>
          <a:xfrm>
            <a:off x="1232535" y="3203019"/>
            <a:ext cx="550425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UU No. 28 Tahun 2014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Hak Cipta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3798" y="4121944"/>
            <a:ext cx="6150293" cy="949404"/>
          </a:xfrm>
          <a:prstGeom prst="roundRect">
            <a:avLst>
              <a:gd name="adj" fmla="val 1541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318" y="4121944"/>
            <a:ext cx="121920" cy="949404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9" name="Text 7"/>
          <p:cNvSpPr/>
          <p:nvPr/>
        </p:nvSpPr>
        <p:spPr>
          <a:xfrm>
            <a:off x="1232535" y="4399240"/>
            <a:ext cx="550425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UU No. 13 Tahun 2016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Paten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3798" y="5318165"/>
            <a:ext cx="6150293" cy="1344216"/>
          </a:xfrm>
          <a:prstGeom prst="roundRect">
            <a:avLst>
              <a:gd name="adj" fmla="val 10884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318" y="5318165"/>
            <a:ext cx="121920" cy="1344216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32535" y="5595461"/>
            <a:ext cx="550425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UU No. 20 Tahun 2016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Merek &amp; Indikasi Geografis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23929" y="2262545"/>
            <a:ext cx="314837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Tujuan Perlindungan</a:t>
            </a:r>
            <a:endParaRPr lang="en-US" sz="24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6441" y="2937986"/>
            <a:ext cx="370165" cy="37016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426053" y="2925723"/>
            <a:ext cx="211871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Melindungi hak pencipta</a:t>
            </a:r>
            <a:endParaRPr lang="en-US" sz="1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5773" y="2937986"/>
            <a:ext cx="370165" cy="3701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655385" y="2925723"/>
            <a:ext cx="2118836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Mencegah pelanggaran</a:t>
            </a:r>
            <a:endParaRPr lang="en-US" sz="1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6441" y="4221242"/>
            <a:ext cx="370165" cy="370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26053" y="4208978"/>
            <a:ext cx="534816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Memberikan kepastian hukum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7623929" y="5239345"/>
            <a:ext cx="6150293" cy="1838325"/>
          </a:xfrm>
          <a:prstGeom prst="roundRect">
            <a:avLst>
              <a:gd name="adj" fmla="val 5639"/>
            </a:avLst>
          </a:prstGeom>
          <a:solidFill>
            <a:srgbClr val="001D4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746" y="5613797"/>
            <a:ext cx="308491" cy="2468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26053" y="5547836"/>
            <a:ext cx="510135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Pelanggaran HKI dapat dikenakan </a:t>
            </a:r>
            <a:r>
              <a:rPr lang="en-US" sz="19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sanksi denda maupun pidana</a:t>
            </a: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sesuai peraturan yang berlaku.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162175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Kesimpulan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3303627"/>
            <a:ext cx="7416403" cy="276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HKI memiliki peran vital dalam melindungi karya intelektual di era digital — mencakup seni, sastra, ilmu pengetahuan, dan teknologi. Di Indonesia, regulasi HKI telah tersedia, namun masih menghadapi tantangan: </a:t>
            </a: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rendahnya kesadaran masyarakat, lemahnya penegakan hukum, dan kurangnya pemahaman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tentang pentingnya HKI. Perlindungan efektif mendukung ekonomi kreatif dan inovasi bangsa.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65816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Saran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798" y="3030736"/>
            <a:ext cx="616982" cy="616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395620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Masyarakat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3798" y="4489728"/>
            <a:ext cx="4095274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Tingkatkan kesadaran menghargai karya orang lain; minimalisir pembajakan dan plagiarisme.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7563" y="3030736"/>
            <a:ext cx="616982" cy="616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7563" y="395620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Pemerintah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267563" y="4489728"/>
            <a:ext cx="4095274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Perkuat penegakan hukum agar setiap pelanggaran HKI ditindak tegas dan memberikan efek jera.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1328" y="3030736"/>
            <a:ext cx="616982" cy="6169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1328" y="395620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Dunia Pendidikan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9671328" y="4489728"/>
            <a:ext cx="4095274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Perguruan tinggi berperan memberikan pemahaman HKI agar mahasiswa mampu melindungi karyanya secara hukum.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56278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Daftar Pustaka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33318" y="2890718"/>
            <a:ext cx="60960" cy="1245394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4" name="Text 2"/>
          <p:cNvSpPr/>
          <p:nvPr/>
        </p:nvSpPr>
        <p:spPr>
          <a:xfrm>
            <a:off x="1171575" y="2921198"/>
            <a:ext cx="598932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UU RI No. 28/2014 tentang Hak Cipta · UU RI No. 13/2016 tentang Paten · UU RI No. 20/2016 tentang Merek dan Indikasi Geografis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38906" y="2890718"/>
            <a:ext cx="60960" cy="1245394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6" name="Text 4"/>
          <p:cNvSpPr/>
          <p:nvPr/>
        </p:nvSpPr>
        <p:spPr>
          <a:xfrm>
            <a:off x="7777163" y="2921198"/>
            <a:ext cx="5989439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Saidin, O.K. (2015).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Aspek Hukum HKI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Jakarta: Raja Grafindo · Djumhana &amp; Djubaedillah (2014).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Hak Milik Intelektual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Bandung: Citra Aditya Bakti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33318" y="4568785"/>
            <a:ext cx="60960" cy="2035016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8" name="Text 6"/>
          <p:cNvSpPr/>
          <p:nvPr/>
        </p:nvSpPr>
        <p:spPr>
          <a:xfrm>
            <a:off x="1171575" y="4599265"/>
            <a:ext cx="598932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WIPO (2020).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Understanding Intellectual Property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· DJKI (2023).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Panduan Kekayaan Intelektual di Indonesia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Kemenkumham RI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38906" y="4568785"/>
            <a:ext cx="60960" cy="2035016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7163" y="4599265"/>
            <a:ext cx="5989439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Anisah, S. (2021). Perlindungan hukum hak cipta di era digital.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Jurnal Hukum, 12(2)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45–60 · Prasetyo, B. (2022). Penegakan hukum pelanggaran HKI. </a:t>
            </a:r>
            <a:r>
              <a:rPr lang="en-US" sz="19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Jurnal Ilmu Hukum, 10(1)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88–100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Microsoft Office PowerPoint</Application>
  <PresentationFormat>Custom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Merriweather</vt:lpstr>
      <vt:lpstr>Merriweather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arief.shidiq4113@gmail.com</cp:lastModifiedBy>
  <cp:revision>1</cp:revision>
  <dcterms:created xsi:type="dcterms:W3CDTF">2026-04-05T07:58:49Z</dcterms:created>
  <dcterms:modified xsi:type="dcterms:W3CDTF">2026-04-07T02:07:00Z</dcterms:modified>
</cp:coreProperties>
</file>